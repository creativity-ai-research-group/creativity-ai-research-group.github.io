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 Gallery" descr="Image Gallery"/>
          <p:cNvPicPr>
            <a:picLocks noChangeAspect="1"/>
          </p:cNvPicPr>
          <p:nvPr/>
        </p:nvPicPr>
        <p:blipFill>
          <a:blip r:embed="rId2">
            <a:extLst/>
          </a:blip>
          <a:srcRect l="0" t="7797" r="0" b="7797"/>
          <a:stretch>
            <a:fillRect/>
          </a:stretch>
        </p:blipFill>
        <p:spPr>
          <a:xfrm>
            <a:off x="-16172" y="54703"/>
            <a:ext cx="24384001" cy="1364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A Review of Creativity Theories: What Questions Are We Trying to Answer?"/>
          <p:cNvSpPr txBox="1"/>
          <p:nvPr>
            <p:ph type="ctrTitle"/>
          </p:nvPr>
        </p:nvSpPr>
        <p:spPr>
          <a:xfrm>
            <a:off x="1219200" y="9617065"/>
            <a:ext cx="21945600" cy="4110520"/>
          </a:xfrm>
          <a:prstGeom prst="rect">
            <a:avLst/>
          </a:prstGeom>
        </p:spPr>
        <p:txBody>
          <a:bodyPr/>
          <a:lstStyle>
            <a:lvl1pPr>
              <a:defRPr spc="-68" sz="6800"/>
            </a:lvl1pPr>
          </a:lstStyle>
          <a:p>
            <a:pPr/>
            <a:r>
              <a:t>A Review of Creativity Theories: What Questions Are We Trying to Answer?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hy Study Creativit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Study Creativity?</a:t>
            </a:r>
          </a:p>
        </p:txBody>
      </p:sp>
      <p:sp>
        <p:nvSpPr>
          <p:cNvPr id="175" name="Creativity is a fundamental human capacity, shaping science, art, and innovatio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Creativity is a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fundamental human capacity</a:t>
            </a:r>
            <a:r>
              <a:t>, shaping science, art, and innovation.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Yet it remains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complex and elusive</a:t>
            </a:r>
            <a:r>
              <a:t> — like love or happiness.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Researchers have asked for decades: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3"/>
            <a:r>
              <a:t>What is creativity?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3"/>
            <a:r>
              <a:t>Where does it come from?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3"/>
            <a:r>
              <a:t>How can it be studied or developed?</a:t>
            </a:r>
          </a:p>
        </p:txBody>
      </p:sp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4491" y="12700000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he Core Challen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Core Challenge</a:t>
            </a:r>
          </a:p>
        </p:txBody>
      </p:sp>
      <p:sp>
        <p:nvSpPr>
          <p:cNvPr id="179" name="Creativity theories are numerous and divers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Creativity theories are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numerous and diverse</a:t>
            </a:r>
            <a:r>
              <a:t>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No single theory dominates — instead, we have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multiple lenses</a:t>
            </a:r>
            <a:r>
              <a:t>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The authors choose to focus on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key questions</a:t>
            </a:r>
            <a:r>
              <a:t>, not just list theories.</a:t>
            </a:r>
          </a:p>
        </p:txBody>
      </p:sp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12058141" y="12700000"/>
            <a:ext cx="2677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Key Questions in Creativity Researc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Questions in Creativity Research</a:t>
            </a:r>
          </a:p>
        </p:txBody>
      </p:sp>
      <p:pic>
        <p:nvPicPr>
          <p:cNvPr id="183" name="Image Gallery" descr="Image Gallery"/>
          <p:cNvPicPr>
            <a:picLocks noChangeAspect="1"/>
          </p:cNvPicPr>
          <p:nvPr/>
        </p:nvPicPr>
        <p:blipFill>
          <a:blip r:embed="rId2">
            <a:extLst/>
          </a:blip>
          <a:srcRect l="8494" t="0" r="8494" b="0"/>
          <a:stretch>
            <a:fillRect/>
          </a:stretch>
        </p:blipFill>
        <p:spPr>
          <a:xfrm>
            <a:off x="9751789" y="6581856"/>
            <a:ext cx="4872394" cy="3908629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What is needed to be creative?"/>
          <p:cNvSpPr/>
          <p:nvPr/>
        </p:nvSpPr>
        <p:spPr>
          <a:xfrm>
            <a:off x="12783833" y="4175868"/>
            <a:ext cx="4872220" cy="2946797"/>
          </a:xfrm>
          <a:prstGeom prst="wedgeEllipseCallout">
            <a:avLst>
              <a:gd name="adj1" fmla="val -51740"/>
              <a:gd name="adj2" fmla="val 70388"/>
            </a:avLst>
          </a:prstGeom>
          <a:solidFill>
            <a:schemeClr val="accent4">
              <a:alpha val="799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What is needed to be creative?</a:t>
            </a:r>
          </a:p>
        </p:txBody>
      </p:sp>
      <p:sp>
        <p:nvSpPr>
          <p:cNvPr id="185" name="What is the underlying structure of creativity?"/>
          <p:cNvSpPr/>
          <p:nvPr/>
        </p:nvSpPr>
        <p:spPr>
          <a:xfrm>
            <a:off x="6728128" y="4175868"/>
            <a:ext cx="4872220" cy="2946797"/>
          </a:xfrm>
          <a:prstGeom prst="wedgeEllipseCallout">
            <a:avLst>
              <a:gd name="adj1" fmla="val 51120"/>
              <a:gd name="adj2" fmla="val 69628"/>
            </a:avLst>
          </a:prstGeom>
          <a:solidFill>
            <a:schemeClr val="accent4">
              <a:alpha val="7994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What is the underlying structure of creativity?</a:t>
            </a:r>
          </a:p>
        </p:txBody>
      </p:sp>
      <p:sp>
        <p:nvSpPr>
          <p:cNvPr id="186" name="What makes creative works endure?"/>
          <p:cNvSpPr/>
          <p:nvPr/>
        </p:nvSpPr>
        <p:spPr>
          <a:xfrm>
            <a:off x="12783833" y="9379630"/>
            <a:ext cx="4872220" cy="2946797"/>
          </a:xfrm>
          <a:prstGeom prst="wedgeEllipseCallout">
            <a:avLst>
              <a:gd name="adj1" fmla="val -49113"/>
              <a:gd name="adj2" fmla="val -66914"/>
            </a:avLst>
          </a:prstGeom>
          <a:solidFill>
            <a:schemeClr val="accent4">
              <a:alpha val="8023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What makes creative works endure?</a:t>
            </a:r>
          </a:p>
        </p:txBody>
      </p:sp>
      <p:sp>
        <p:nvSpPr>
          <p:cNvPr id="187" name="How do we create individually and collectively?"/>
          <p:cNvSpPr/>
          <p:nvPr/>
        </p:nvSpPr>
        <p:spPr>
          <a:xfrm>
            <a:off x="6728128" y="9379630"/>
            <a:ext cx="4872220" cy="2946797"/>
          </a:xfrm>
          <a:prstGeom prst="wedgeEllipseCallout">
            <a:avLst>
              <a:gd name="adj1" fmla="val 50355"/>
              <a:gd name="adj2" fmla="val -69399"/>
            </a:avLst>
          </a:prstGeom>
          <a:solidFill>
            <a:schemeClr val="accent4">
              <a:alpha val="7994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How do we create individually and collectively?</a:t>
            </a:r>
          </a:p>
        </p:txBody>
      </p:sp>
      <p:sp>
        <p:nvSpPr>
          <p:cNvPr id="188" name="Slide Number"/>
          <p:cNvSpPr txBox="1"/>
          <p:nvPr>
            <p:ph type="sldNum" sz="quarter" idx="4294967295"/>
          </p:nvPr>
        </p:nvSpPr>
        <p:spPr>
          <a:xfrm>
            <a:off x="12056491" y="12700000"/>
            <a:ext cx="27101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Image Gallery" descr="Image Gallery"/>
          <p:cNvPicPr>
            <a:picLocks noChangeAspect="1"/>
          </p:cNvPicPr>
          <p:nvPr/>
        </p:nvPicPr>
        <p:blipFill>
          <a:blip r:embed="rId2">
            <a:extLst/>
          </a:blip>
          <a:srcRect l="8494" t="0" r="8494" b="0"/>
          <a:stretch>
            <a:fillRect/>
          </a:stretch>
        </p:blipFill>
        <p:spPr>
          <a:xfrm>
            <a:off x="9755803" y="6106679"/>
            <a:ext cx="4872394" cy="390863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What is the underlying structure of creativity?"/>
          <p:cNvSpPr/>
          <p:nvPr/>
        </p:nvSpPr>
        <p:spPr>
          <a:xfrm>
            <a:off x="6732143" y="3700692"/>
            <a:ext cx="4872219" cy="2946797"/>
          </a:xfrm>
          <a:prstGeom prst="wedgeEllipseCallout">
            <a:avLst>
              <a:gd name="adj1" fmla="val 51120"/>
              <a:gd name="adj2" fmla="val 69628"/>
            </a:avLst>
          </a:prstGeom>
          <a:solidFill>
            <a:schemeClr val="accent4">
              <a:alpha val="7994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What is the underlying structure of creativity?</a:t>
            </a:r>
          </a:p>
        </p:txBody>
      </p:sp>
      <p:sp>
        <p:nvSpPr>
          <p:cNvPr id="192" name="Slide Number"/>
          <p:cNvSpPr txBox="1"/>
          <p:nvPr>
            <p:ph type="sldNum" sz="quarter" idx="4294967295"/>
          </p:nvPr>
        </p:nvSpPr>
        <p:spPr>
          <a:xfrm>
            <a:off x="12060301" y="12700000"/>
            <a:ext cx="26339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heories About the Structure of Creativ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Theories About the Structure of Creativity</a:t>
            </a:r>
          </a:p>
        </p:txBody>
      </p:sp>
      <p:sp>
        <p:nvSpPr>
          <p:cNvPr id="195" name="Creativity can be studied from different structural perspectiv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ts val="11200"/>
              </a:lnSpc>
            </a:pPr>
            <a:r>
              <a:t>Creativity can be studied from different structural perspectives.</a:t>
            </a:r>
          </a:p>
          <a:p>
            <a:pPr/>
            <a:r>
              <a:t>Key models propose frameworks that define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how creativity operates and is observed</a:t>
            </a:r>
            <a:r>
              <a:t>.</a:t>
            </a:r>
          </a:p>
        </p:txBody>
      </p:sp>
      <p:sp>
        <p:nvSpPr>
          <p:cNvPr id="196" name="Slide Number"/>
          <p:cNvSpPr txBox="1"/>
          <p:nvPr>
            <p:ph type="sldNum" sz="quarter" idx="4294967295"/>
          </p:nvPr>
        </p:nvSpPr>
        <p:spPr>
          <a:xfrm>
            <a:off x="12056237" y="12700000"/>
            <a:ext cx="27152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he Four P’s Framework (Rhodes, 1961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Four P’s Framework (Rhodes, 1961)</a:t>
            </a:r>
          </a:p>
        </p:txBody>
      </p:sp>
      <p:sp>
        <p:nvSpPr>
          <p:cNvPr id="199" name="Explain how creativity can be studied and enhanced across four dimensions — Product, Process, Person, Pres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how creativity can be studied and enhanced across four dimensions — Product, Process, Person, Press.</a:t>
            </a:r>
          </a:p>
          <a:p>
            <a:pPr/>
          </a:p>
          <a:p>
            <a:pPr/>
            <a:r>
              <a:t>4P model helps bridge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theory ↔ practice</a:t>
            </a:r>
            <a:r>
              <a:t>.</a:t>
            </a:r>
          </a:p>
        </p:txBody>
      </p:sp>
      <p:sp>
        <p:nvSpPr>
          <p:cNvPr id="200" name="Slide Number"/>
          <p:cNvSpPr txBox="1"/>
          <p:nvPr>
            <p:ph type="sldNum" sz="quarter" idx="4294967295"/>
          </p:nvPr>
        </p:nvSpPr>
        <p:spPr>
          <a:xfrm>
            <a:off x="12068174" y="12700000"/>
            <a:ext cx="247651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Overview of the 4P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Overview of the 4P Model</a:t>
            </a:r>
          </a:p>
        </p:txBody>
      </p:sp>
      <p:sp>
        <p:nvSpPr>
          <p:cNvPr id="203" name="Product — What is produced (novel + useful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Product</a:t>
            </a:r>
            <a:r>
              <a:t> — What is produced (novel + useful)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Process</a:t>
            </a:r>
            <a:r>
              <a:t> — How creativity happens (cognition)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Person</a:t>
            </a:r>
            <a:r>
              <a:t> — Who is creative (traits/motivation)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Press</a:t>
            </a:r>
            <a:r>
              <a:t> — Environment supporting creativity</a:t>
            </a:r>
          </a:p>
        </p:txBody>
      </p:sp>
      <p:sp>
        <p:nvSpPr>
          <p:cNvPr id="204" name="Slide Number"/>
          <p:cNvSpPr txBox="1"/>
          <p:nvPr>
            <p:ph type="sldNum" sz="quarter" idx="4294967295"/>
          </p:nvPr>
        </p:nvSpPr>
        <p:spPr>
          <a:xfrm>
            <a:off x="12057761" y="12700000"/>
            <a:ext cx="26847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he Creative Produ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Creative Product</a:t>
            </a:r>
          </a:p>
        </p:txBody>
      </p:sp>
      <p:sp>
        <p:nvSpPr>
          <p:cNvPr id="207" name="Product = tangible or conceptual output judged by novelty and usefulness (Runco &amp; Jaeger, 2012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Product = tangible or conceptual output judged by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novelty</a:t>
            </a:r>
            <a:r>
              <a:t> and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usefulness</a:t>
            </a:r>
            <a:r>
              <a:t> (Runco &amp; Jaeger, 2012).</a:t>
            </a:r>
          </a:p>
          <a:p>
            <a:pPr/>
            <a:r>
              <a:t>“Surprise” (Simonton, 2012) is sometimes added as a third criterion.</a:t>
            </a:r>
          </a:p>
          <a:p>
            <a:pPr/>
            <a:r>
              <a:t>Tools:</a:t>
            </a:r>
          </a:p>
          <a:p>
            <a:pPr lvl="2"/>
            <a:r>
              <a:t>Creative Product Semantic Scale (CPSS)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2"/>
            <a:r>
              <a:t>Consensual Assessment Technique (CAT) by Amabile (1983).</a:t>
            </a:r>
          </a:p>
          <a:p>
            <a:pPr/>
            <a:r>
              <a:rPr i="1"/>
              <a:t>Functional creativity</a:t>
            </a:r>
            <a:r>
              <a:t> (Cropley, 2010): adds relevance, effectiveness, elegance.</a:t>
            </a:r>
          </a:p>
          <a:p>
            <a:pPr/>
            <a:r>
              <a:t>Judging creativity is subjective — context and culture matter.</a:t>
            </a:r>
          </a:p>
        </p:txBody>
      </p:sp>
      <p:sp>
        <p:nvSpPr>
          <p:cNvPr id="208" name="Slide Number"/>
          <p:cNvSpPr txBox="1"/>
          <p:nvPr>
            <p:ph type="sldNum" sz="quarter" idx="4294967295"/>
          </p:nvPr>
        </p:nvSpPr>
        <p:spPr>
          <a:xfrm>
            <a:off x="12056109" y="12700000"/>
            <a:ext cx="271781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reative Processes and Mechanis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Creative Processes and Mechanisms</a:t>
            </a:r>
          </a:p>
        </p:txBody>
      </p:sp>
      <p:sp>
        <p:nvSpPr>
          <p:cNvPr id="211" name="Wallas (1926): Preparation → Incubation → Illumination → Verificatio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Wallas (1926):</a:t>
            </a:r>
            <a:r>
              <a:t> Preparation → Incubation → Illumination → Verification.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Geneplore model:</a:t>
            </a:r>
            <a:r>
              <a:t> Generative + Exploratory phases (Finke et al., 1992).</a:t>
            </a:r>
          </a:p>
          <a:p>
            <a:pPr/>
            <a:r>
              <a:t>Practical methods: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Osborn’s Creative Problem Solving (CPS)</a:t>
            </a:r>
            <a:r>
              <a:t> — six steps from problem finding to acceptance.</a:t>
            </a:r>
          </a:p>
          <a:p>
            <a:pPr/>
            <a:r>
              <a:rPr i="1"/>
              <a:t>Creative thinking techniques</a:t>
            </a:r>
            <a:r>
              <a:t> improve performance when they develop cognitive heuristics (Scott et al., 2004).</a:t>
            </a:r>
          </a:p>
        </p:txBody>
      </p:sp>
      <p:sp>
        <p:nvSpPr>
          <p:cNvPr id="21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Who Is Creativ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Who Is Creative?</a:t>
            </a:r>
          </a:p>
        </p:txBody>
      </p:sp>
      <p:sp>
        <p:nvSpPr>
          <p:cNvPr id="215" name="Personality: Openness to experience consistently predicts creativity (Feist, 1998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Personality: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Openness to experience</a:t>
            </a:r>
            <a:r>
              <a:t> consistently predicts creativity (Feist, 1998).</a:t>
            </a:r>
          </a:p>
          <a:p>
            <a:pPr/>
            <a:r>
              <a:t>Motivation: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Intrinsic motivation</a:t>
            </a:r>
            <a:r>
              <a:t> (curiosity, enjoyment) is stronger than external reward.</a:t>
            </a:r>
          </a:p>
          <a:p>
            <a:pPr/>
            <a:r>
              <a:t>But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synergistic extrinsic motivators</a:t>
            </a:r>
            <a:r>
              <a:t> (feedback, recognition) can enhance creativity (Amabile, 1993).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Flow</a:t>
            </a:r>
            <a:r>
              <a:t> (Csikszentmihalyi, 1990): deep engagement where time disappears.</a:t>
            </a:r>
          </a:p>
        </p:txBody>
      </p:sp>
      <p:sp>
        <p:nvSpPr>
          <p:cNvPr id="216" name="Slide Number"/>
          <p:cNvSpPr txBox="1"/>
          <p:nvPr>
            <p:ph type="sldNum" sz="quarter" idx="4294967295"/>
          </p:nvPr>
        </p:nvSpPr>
        <p:spPr>
          <a:xfrm>
            <a:off x="12033503" y="12700000"/>
            <a:ext cx="316993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Environmental and Social Influen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Environmental and Social Influences</a:t>
            </a:r>
          </a:p>
        </p:txBody>
      </p:sp>
      <p:sp>
        <p:nvSpPr>
          <p:cNvPr id="219" name="Press = interaction between person and environmen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i="1"/>
              <a:t>Press</a:t>
            </a:r>
            <a:r>
              <a:t> = interaction between person and environment.</a:t>
            </a:r>
          </a:p>
          <a:p>
            <a:pPr/>
            <a:r>
              <a:t>Levels: family → school → workplace → culture → history (Runco &amp; Pagnani, 2011).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Amabile’s KEYS</a:t>
            </a:r>
            <a:r>
              <a:t> — identifies 8 creativity-supportive factors (freedom, challenge, support, resources, etc.).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Ekvall’s Creative Climate Questionnaire (CCQ)</a:t>
            </a:r>
            <a:r>
              <a:t> — 10 dimensions including trust, humor, and risk-taking.</a:t>
            </a:r>
          </a:p>
          <a:p>
            <a:pPr/>
            <a:r>
              <a:t>Too much control or time pressure stifles creativity.</a:t>
            </a:r>
          </a:p>
        </p:txBody>
      </p:sp>
      <p:sp>
        <p:nvSpPr>
          <p:cNvPr id="220" name="Slide Number"/>
          <p:cNvSpPr txBox="1"/>
          <p:nvPr>
            <p:ph type="sldNum" sz="quarter" idx="4294967295"/>
          </p:nvPr>
        </p:nvSpPr>
        <p:spPr>
          <a:xfrm>
            <a:off x="12013819" y="12700000"/>
            <a:ext cx="356363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Integrating the 4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Integrating the 4Ps</a:t>
            </a:r>
          </a:p>
        </p:txBody>
      </p:sp>
      <p:sp>
        <p:nvSpPr>
          <p:cNvPr id="223" name="Creativity arises from the interaction among product, process, person, and pres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Creativity arises from the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interaction</a:t>
            </a:r>
            <a:r>
              <a:t> among product, process, person, and press.</a:t>
            </a:r>
          </a:p>
          <a:p>
            <a:pPr/>
            <a:r>
              <a:t>Examples:</a:t>
            </a:r>
          </a:p>
          <a:p>
            <a:pPr lvl="2"/>
            <a:r>
              <a:t>Amabile’s Componential Model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2"/>
            <a:r>
              <a:t>Csikszentmihalyi’s Systems Theory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2"/>
            <a:r>
              <a:t>Sternberg’s Investment Theory</a:t>
            </a:r>
          </a:p>
          <a:p>
            <a:pPr/>
            <a:r>
              <a:t>Rejects the “lone genius” myth — creativity is </a:t>
            </a:r>
            <a:r>
              <a:rPr i="1"/>
              <a:t>systemic</a:t>
            </a:r>
            <a:r>
              <a:t>.</a:t>
            </a:r>
          </a:p>
          <a:p>
            <a:pPr/>
            <a:r>
              <a:t>Encourages multi-level interventions (personal, organizational, cultural).</a:t>
            </a:r>
          </a:p>
        </p:txBody>
      </p:sp>
      <p:sp>
        <p:nvSpPr>
          <p:cNvPr id="224" name="Slide Number"/>
          <p:cNvSpPr txBox="1"/>
          <p:nvPr>
            <p:ph type="sldNum" sz="quarter" idx="4294967295"/>
          </p:nvPr>
        </p:nvSpPr>
        <p:spPr>
          <a:xfrm>
            <a:off x="12007469" y="12700000"/>
            <a:ext cx="369063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Five A’s (Glăveanu, 2013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Five A’s (Glăveanu, 2013)</a:t>
            </a:r>
          </a:p>
        </p:txBody>
      </p:sp>
      <p:graphicFrame>
        <p:nvGraphicFramePr>
          <p:cNvPr id="227" name="Table 1"/>
          <p:cNvGraphicFramePr/>
          <p:nvPr/>
        </p:nvGraphicFramePr>
        <p:xfrm>
          <a:off x="2187861" y="5258389"/>
          <a:ext cx="20020978" cy="599821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00130"/>
                <a:gridCol w="10185655"/>
                <a:gridCol w="6922490"/>
              </a:tblGrid>
              <a:tr h="997586">
                <a:tc>
                  <a:txBody>
                    <a:bodyPr/>
                    <a:lstStyle/>
                    <a:p>
                      <a:pPr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Meaning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Focus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7586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Actors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People engaged in creative activity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Agency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7586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Actions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Processes and practices of creation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Behavior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7586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Artifacts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The created products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Outcome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7586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Audiences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Those who evaluate or engage with the product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Reception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7586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Affordances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Opportunities and resources enabling creativity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Environment (social + material)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28" name="Slide Number"/>
          <p:cNvSpPr txBox="1"/>
          <p:nvPr>
            <p:ph type="sldNum" sz="quarter" idx="4294967295"/>
          </p:nvPr>
        </p:nvSpPr>
        <p:spPr>
          <a:xfrm>
            <a:off x="12008358" y="12700000"/>
            <a:ext cx="367285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he Four C’s Model (Beghetto &amp; Kaufman, 2007; 2009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23872">
              <a:defRPr spc="-69" sz="6972"/>
            </a:lvl1pPr>
          </a:lstStyle>
          <a:p>
            <a:pPr/>
            <a:r>
              <a:t>The Four C’s Model (Beghetto &amp; Kaufman, 2007; 2009)</a:t>
            </a:r>
          </a:p>
        </p:txBody>
      </p:sp>
      <p:graphicFrame>
        <p:nvGraphicFramePr>
          <p:cNvPr id="231" name="Table 1"/>
          <p:cNvGraphicFramePr/>
          <p:nvPr/>
        </p:nvGraphicFramePr>
        <p:xfrm>
          <a:off x="1699443" y="5622769"/>
          <a:ext cx="20997814" cy="526945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14464"/>
                <a:gridCol w="8782283"/>
                <a:gridCol w="10288365"/>
              </a:tblGrid>
              <a:tr h="1051351">
                <a:tc>
                  <a:txBody>
                    <a:bodyPr/>
                    <a:lstStyle/>
                    <a:p>
                      <a:pPr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Level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Description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Example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51351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Mini-C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Personal insights or learning moments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 child discovering a new way to solve a puzzle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51351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Little-C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Everyday creativity recognized by others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Writing a unique blog post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51351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Pro-C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Professional-level creativity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Skilled designer or composer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51351"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b="1"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Big-C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Eminent, legendary creativity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tabLst>
                          <a:tab pos="1663700" algn="l"/>
                        </a:tabLst>
                        <a:defRPr sz="1800"/>
                      </a:pPr>
                      <a:r>
                        <a:rPr sz="3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Einstein, Picasso, Mozart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32" name="Slide Number"/>
          <p:cNvSpPr txBox="1"/>
          <p:nvPr>
            <p:ph type="sldNum" sz="quarter" idx="4294967295"/>
          </p:nvPr>
        </p:nvSpPr>
        <p:spPr>
          <a:xfrm>
            <a:off x="12009627" y="12700000"/>
            <a:ext cx="364745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E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HANKS!"/>
          <p:cNvSpPr txBox="1"/>
          <p:nvPr>
            <p:ph type="body" sz="quarter" idx="1"/>
          </p:nvPr>
        </p:nvSpPr>
        <p:spPr>
          <a:xfrm>
            <a:off x="8842838" y="5975943"/>
            <a:ext cx="6698324" cy="176411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7000"/>
            </a:lvl1pPr>
          </a:lstStyle>
          <a:p>
            <a:pPr/>
            <a:r>
              <a:t>THANKS!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